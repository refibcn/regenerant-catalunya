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1" Type="http://schemas.openxmlformats.org/officeDocument/2006/relationships/viewProps" Target="viewProps.xml" /><Relationship Id="rId4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3" Type="http://schemas.openxmlformats.org/officeDocument/2006/relationships/tableStyles" Target="tableStyles.xml" /><Relationship Id="rId4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Workshop 1: Web3 Wallet Education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Regenerant Catalunya - Phase 1</a:t>
            </a:r>
            <a:br/>
            <a:br/>
            <a:r>
              <a:rPr/>
              <a:t>ReFi Barcelona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November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Introducción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Workshop 1: Web3 Wallet Education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Regenerant Catalunya - Phase 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Introducción a Regenerant Catalunya</a:t>
            </a:r>
          </a:p>
          <a:p>
            <a:pPr lvl="0" indent="-342900" marL="342900">
              <a:buAutoNum type="arabicPeriod"/>
            </a:pPr>
            <a:r>
              <a:rPr b="1"/>
              <a:t>¿Por qué Web3?</a:t>
            </a:r>
            <a:r>
              <a:rPr/>
              <a:t> (Mitos y preocupaciones)</a:t>
            </a:r>
          </a:p>
          <a:p>
            <a:pPr lvl="0" indent="-342900" marL="342900">
              <a:buAutoNum type="arabicPeriod"/>
            </a:pPr>
            <a:r>
              <a:rPr b="1"/>
              <a:t>Visión a largo plazo</a:t>
            </a:r>
            <a:r>
              <a:rPr/>
              <a:t> (BioFi e Infraestructura Financiera Bioregional)</a:t>
            </a:r>
          </a:p>
          <a:p>
            <a:pPr lvl="0" indent="-342900" marL="342900">
              <a:buAutoNum type="arabicPeriod"/>
            </a:pPr>
            <a:r>
              <a:rPr b="1"/>
              <a:t>La ronda de financiación</a:t>
            </a:r>
          </a:p>
          <a:p>
            <a:pPr lvl="0" indent="-342900" marL="342900">
              <a:buAutoNum type="arabicPeriod"/>
            </a:pPr>
            <a:r>
              <a:rPr b="1"/>
              <a:t>Timeline y actividades</a:t>
            </a:r>
          </a:p>
          <a:p>
            <a:pPr lvl="0" indent="-342900" marL="342900">
              <a:buAutoNum type="arabicPeriod"/>
            </a:pPr>
            <a:r>
              <a:rPr b="1"/>
              <a:t>Sobre las wallets Web3</a:t>
            </a:r>
          </a:p>
          <a:p>
            <a:pPr lvl="0" indent="-342900" marL="342900">
              <a:buAutoNum type="arabicPeriod"/>
            </a:pPr>
            <a:r>
              <a:rPr b="1"/>
              <a:t>Grupos de trabajo</a:t>
            </a:r>
            <a:r>
              <a:rPr/>
              <a:t> (configuración de wallets)</a:t>
            </a:r>
          </a:p>
          <a:p>
            <a:pPr lvl="0" indent="0" marL="0">
              <a:buNone/>
            </a:pPr>
            <a:r>
              <a:rPr b="1"/>
              <a:t>Duración:</a:t>
            </a:r>
            <a:r>
              <a:rPr/>
              <a:t> 1.5 horas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Introducción a Regenerant Catalunya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¿Qué es Regenerant Catalunya?</a:t>
            </a:r>
          </a:p>
          <a:p>
            <a:pPr lvl="0"/>
            <a:r>
              <a:rPr b="1"/>
              <a:t>Ronda de financiación participativa</a:t>
            </a:r>
            <a:r>
              <a:rPr/>
              <a:t> que conecta proyectos regenerativos catalanes con infraestructura Web3 global</a:t>
            </a:r>
          </a:p>
          <a:p>
            <a:pPr lvl="0"/>
            <a:r>
              <a:rPr b="1"/>
              <a:t>11 proyectos</a:t>
            </a:r>
            <a:r>
              <a:rPr/>
              <a:t> apoyados en esta fase</a:t>
            </a:r>
          </a:p>
          <a:p>
            <a:pPr lvl="0"/>
            <a:r>
              <a:rPr b="1"/>
              <a:t>€29,200</a:t>
            </a:r>
            <a:r>
              <a:rPr/>
              <a:t> en fondos totales</a:t>
            </a:r>
          </a:p>
          <a:p>
            <a:pPr lvl="0"/>
            <a:r>
              <a:rPr b="1"/>
              <a:t>2 fases:</a:t>
            </a:r>
            <a:r>
              <a:rPr/>
              <a:t> Asignación inicial + Gobernanza colectiva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Introducción a Regenerant Catalunya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Socios Locales</a:t>
            </a:r>
          </a:p>
          <a:p>
            <a:pPr lvl="0"/>
            <a:r>
              <a:rPr b="1"/>
              <a:t>Miceli Social</a:t>
            </a:r>
            <a:r>
              <a:rPr/>
              <a:t> (€6,000) - Proyectos rurales</a:t>
            </a:r>
          </a:p>
          <a:p>
            <a:pPr lvl="0"/>
            <a:r>
              <a:rPr b="1"/>
              <a:t>La Fundició / Keras Buti</a:t>
            </a:r>
            <a:r>
              <a:rPr/>
              <a:t> (€5,000) - Proyectos urbanos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Socio Global</a:t>
            </a:r>
          </a:p>
          <a:p>
            <a:pPr lvl="0"/>
            <a:r>
              <a:rPr b="1"/>
              <a:t>Localism Fund</a:t>
            </a:r>
            <a:r>
              <a:rPr/>
              <a:t> (€18,200) - Matching de fondos globales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¿Por qué Web3?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Mitos Comunes</a:t>
            </a:r>
          </a:p>
          <a:p>
            <a:pPr lvl="0" indent="0" marL="0">
              <a:buNone/>
            </a:pPr>
            <a:r>
              <a:rPr b="1"/>
              <a:t>Mito:</a:t>
            </a:r>
            <a:r>
              <a:rPr/>
              <a:t> Web3 es solo para especuladores y cripto-aficionados</a:t>
            </a:r>
          </a:p>
          <a:p>
            <a:pPr lvl="0" indent="0" marL="0">
              <a:buNone/>
            </a:pPr>
            <a:r>
              <a:rPr b="1"/>
              <a:t>Realidad:</a:t>
            </a:r>
            <a:r>
              <a:rPr/>
              <a:t> Web3 ofrece herramientas prácticas para financiación transparente y gestión de impacto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¿Por qué Web3?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Preocupaciones Comunes</a:t>
            </a:r>
          </a:p>
          <a:p>
            <a:pPr lvl="0"/>
            <a:r>
              <a:rPr b="1"/>
              <a:t>“Es muy técnico”</a:t>
            </a:r>
            <a:r>
              <a:rPr/>
              <a:t> → Wallets modernas son fáciles de usar</a:t>
            </a:r>
          </a:p>
          <a:p>
            <a:pPr lvl="0"/>
            <a:r>
              <a:rPr b="1"/>
              <a:t>“Puedo perder mis fondos”</a:t>
            </a:r>
            <a:r>
              <a:rPr/>
              <a:t> → Recuperación social reduce riesgos</a:t>
            </a:r>
          </a:p>
          <a:p>
            <a:pPr lvl="0"/>
            <a:r>
              <a:rPr b="1"/>
              <a:t>“No es seguro”</a:t>
            </a:r>
            <a:r>
              <a:rPr/>
              <a:t> → Transacciones on-chain son verificables públicamente</a:t>
            </a:r>
          </a:p>
          <a:p>
            <a:pPr lvl="0"/>
            <a:r>
              <a:rPr b="1"/>
              <a:t>“No es para organizaciones”</a:t>
            </a:r>
            <a:r>
              <a:rPr/>
              <a:t> → Herramientas diseñadas para equipos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¿Por qué Web3?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Problemas Tradicionales</a:t>
            </a:r>
          </a:p>
          <a:p>
            <a:pPr lvl="0"/>
            <a:r>
              <a:rPr/>
              <a:t>Barreras bancarias internacionales</a:t>
            </a:r>
          </a:p>
          <a:p>
            <a:pPr lvl="0"/>
            <a:r>
              <a:rPr/>
              <a:t>Reportes de impacto tardíos</a:t>
            </a:r>
          </a:p>
          <a:p>
            <a:pPr lvl="0"/>
            <a:r>
              <a:rPr/>
              <a:t>Falta de transparencia financiera</a:t>
            </a:r>
          </a:p>
          <a:p>
            <a:pPr lvl="0"/>
            <a:r>
              <a:rPr/>
              <a:t>Documentación desconectada del trabajo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Soluciones Web3</a:t>
            </a:r>
          </a:p>
          <a:p>
            <a:pPr lvl="0"/>
            <a:r>
              <a:rPr/>
              <a:t>Acceso global sin barreras bancarias</a:t>
            </a:r>
          </a:p>
          <a:p>
            <a:pPr lvl="0"/>
            <a:r>
              <a:rPr/>
              <a:t>Transacciones visibles en tiempo real</a:t>
            </a:r>
          </a:p>
          <a:p>
            <a:pPr lvl="0"/>
            <a:r>
              <a:rPr/>
              <a:t>Transparencia total on-chain</a:t>
            </a:r>
          </a:p>
          <a:p>
            <a:pPr lvl="0"/>
            <a:r>
              <a:rPr/>
              <a:t>Documentación integrada en el flujo de trabajo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Visión a Largo Plazo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BioFi e Infraestructura Financiera Bioregional</a:t>
            </a:r>
          </a:p>
          <a:p>
            <a:pPr lvl="0"/>
            <a:r>
              <a:rPr b="1"/>
              <a:t>Infraestructura sostenible</a:t>
            </a:r>
            <a:r>
              <a:rPr/>
              <a:t> para regeneración bioregional</a:t>
            </a:r>
          </a:p>
          <a:p>
            <a:pPr lvl="0"/>
            <a:r>
              <a:rPr b="1"/>
              <a:t>Modelo replicable</a:t>
            </a:r>
            <a:r>
              <a:rPr/>
              <a:t> para otras bioregiones</a:t>
            </a:r>
          </a:p>
          <a:p>
            <a:pPr lvl="0"/>
            <a:r>
              <a:rPr b="1"/>
              <a:t>Herramientas abiertas</a:t>
            </a:r>
            <a:r>
              <a:rPr/>
              <a:t> y conocimiento compartido</a:t>
            </a:r>
          </a:p>
          <a:p>
            <a:pPr lvl="0"/>
            <a:r>
              <a:rPr b="1"/>
              <a:t>Gobernanza colectiva</a:t>
            </a:r>
            <a:r>
              <a:rPr/>
              <a:t> a nivel de red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Ronda de Financiación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Estructura de Dos Fases</a:t>
            </a:r>
          </a:p>
          <a:p>
            <a:pPr lvl="0" indent="0" marL="0">
              <a:buNone/>
            </a:pPr>
            <a:r>
              <a:rPr b="1"/>
              <a:t>Fase 1 (Nov-Dic 2025):</a:t>
            </a:r>
            <a:r>
              <a:rPr/>
              <a:t> Asignación inicial - €1,000-1,500 por proyecto - Configuración de wallets y KarmaGap - Talleres de capacitación</a:t>
            </a:r>
          </a:p>
          <a:p>
            <a:pPr lvl="0" indent="0" marL="0">
              <a:buNone/>
            </a:pPr>
            <a:r>
              <a:rPr b="1"/>
              <a:t>Fase 2 (Ene-Feb 2026):</a:t>
            </a:r>
            <a:r>
              <a:rPr/>
              <a:t> Gobernanza colectiva - ~€6,000 para red Miceli Social - ~€5,000 para red La Fundició/Keras Buti - Decisiones colectivas sobre asignación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Timeline y Actividades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Fase 1 - Próximos Pasos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Actividad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Nov 17-21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Workshop 1</a:t>
                      </a:r>
                      <a:r>
                        <a:rPr/>
                        <a:t> - Configuración de wallets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Dic 4-19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Horas de oficina - Soporte para proyectos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Dic 8-14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Workshop 2</a:t>
                      </a:r>
                      <a:r>
                        <a:rPr/>
                        <a:t> - Documentación de impacto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 Dic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Desembolso Fase 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Timeline y Actividades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Fase 2 - Vista Previa</a:t>
            </a:r>
          </a:p>
          <a:p>
            <a:pPr lvl="0"/>
            <a:r>
              <a:rPr b="1"/>
              <a:t>Enero-Febrero 2026</a:t>
            </a:r>
          </a:p>
          <a:p>
            <a:pPr lvl="0"/>
            <a:r>
              <a:rPr/>
              <a:t>Gobernanza colectiva usando herramientas Web3</a:t>
            </a:r>
          </a:p>
          <a:p>
            <a:pPr lvl="0"/>
            <a:r>
              <a:rPr/>
              <a:t>Gardens, Safe multisig, Sarafu, Cycles</a:t>
            </a:r>
          </a:p>
          <a:p>
            <a:pPr lvl="0"/>
            <a:r>
              <a:rPr/>
              <a:t>Decisiones sobre asignación de fondos adicionales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Sobre las Wallets Web3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¿Qué es una Wallet Web3?</a:t>
            </a:r>
          </a:p>
          <a:p>
            <a:pPr lvl="0" indent="0" marL="0">
              <a:buNone/>
            </a:pPr>
            <a:r>
              <a:rPr/>
              <a:t>Una wallet Web3 es una herramienta digital que permite:</a:t>
            </a:r>
          </a:p>
          <a:p>
            <a:pPr lvl="0"/>
            <a:r>
              <a:rPr b="1"/>
              <a:t>Gestionar fondos</a:t>
            </a:r>
            <a:r>
              <a:rPr/>
              <a:t> de forma segura y autónoma</a:t>
            </a:r>
          </a:p>
          <a:p>
            <a:pPr lvl="0"/>
            <a:r>
              <a:rPr b="1"/>
              <a:t>Recibir y enviar</a:t>
            </a:r>
            <a:r>
              <a:rPr/>
              <a:t> pagos globalmente</a:t>
            </a:r>
          </a:p>
          <a:p>
            <a:pPr lvl="0"/>
            <a:r>
              <a:rPr b="1"/>
              <a:t>Conectar con herramientas</a:t>
            </a:r>
            <a:r>
              <a:rPr/>
              <a:t> de impacto y gobernanza</a:t>
            </a:r>
          </a:p>
          <a:p>
            <a:pPr lvl="0"/>
            <a:r>
              <a:rPr b="1"/>
              <a:t>Mantener transparencia</a:t>
            </a:r>
            <a:r>
              <a:rPr/>
              <a:t> total de transacciones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 qué las Wallets Importan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🔐 Recuperación Social</a:t>
            </a:r>
          </a:p>
          <a:p>
            <a:pPr lvl="0" indent="0" marL="0">
              <a:buNone/>
            </a:pPr>
            <a:r>
              <a:rPr/>
              <a:t>A diferencia de wallets tradicionales, wallets como </a:t>
            </a:r>
            <a:r>
              <a:rPr b="1"/>
              <a:t>Valora</a:t>
            </a:r>
            <a:r>
              <a:rPr/>
              <a:t> y </a:t>
            </a:r>
            <a:r>
              <a:rPr b="1"/>
              <a:t>Minipay</a:t>
            </a:r>
            <a:r>
              <a:rPr/>
              <a:t> permiten recuperar acceso a través de contactos de confianza si se pierden las claves.</a:t>
            </a:r>
          </a:p>
          <a:p>
            <a:pPr lvl="0" indent="0" marL="0">
              <a:buNone/>
            </a:pPr>
            <a:r>
              <a:rPr b="1"/>
              <a:t>Reduce el riesgo</a:t>
            </a:r>
            <a:r>
              <a:rPr/>
              <a:t> para organizaciones nuevas en Web3.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 qué las Wallets Importan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💰 Gestión Transparente de Fondos</a:t>
            </a:r>
          </a:p>
          <a:p>
            <a:pPr lvl="0" indent="0" marL="0">
              <a:buNone/>
            </a:pPr>
            <a:r>
              <a:rPr/>
              <a:t>Todas las transacciones son visibles on-chain, creando:</a:t>
            </a:r>
          </a:p>
          <a:p>
            <a:pPr lvl="0"/>
            <a:r>
              <a:rPr b="1"/>
              <a:t>Rendición de cuentas</a:t>
            </a:r>
            <a:r>
              <a:rPr/>
              <a:t> y confianza</a:t>
            </a:r>
          </a:p>
          <a:p>
            <a:pPr lvl="0"/>
            <a:r>
              <a:rPr b="1"/>
              <a:t>Visibilidad en tiempo real</a:t>
            </a:r>
            <a:r>
              <a:rPr/>
              <a:t> para financiadores</a:t>
            </a:r>
          </a:p>
          <a:p>
            <a:pPr lvl="0"/>
            <a:r>
              <a:rPr b="1"/>
              <a:t>Transparencia financiera</a:t>
            </a:r>
            <a:r>
              <a:rPr/>
              <a:t> completa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 qué las Wallets Importan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🌍 Acceso Global</a:t>
            </a:r>
          </a:p>
          <a:p>
            <a:pPr lvl="0" indent="0" marL="0">
              <a:buNone/>
            </a:pPr>
            <a:r>
              <a:rPr/>
              <a:t>Los proyectos pueden recibir financiación desde cualquier parte del mundo sin:</a:t>
            </a:r>
          </a:p>
          <a:p>
            <a:pPr lvl="0"/>
            <a:r>
              <a:rPr/>
              <a:t>Barreras bancarias tradicionales</a:t>
            </a:r>
          </a:p>
          <a:p>
            <a:pPr lvl="0"/>
            <a:r>
              <a:rPr/>
              <a:t>Problemas de conversión de moneda</a:t>
            </a:r>
          </a:p>
          <a:p>
            <a:pPr lvl="0"/>
            <a:r>
              <a:rPr/>
              <a:t>Restricciones organizacionales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 qué las Wallets Importan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🔗 Integración con Herramientas</a:t>
            </a:r>
          </a:p>
          <a:p>
            <a:pPr lvl="0" indent="0" marL="0">
              <a:buNone/>
            </a:pPr>
            <a:r>
              <a:rPr/>
              <a:t>Las wallets se conectan con plataformas como </a:t>
            </a:r>
            <a:r>
              <a:rPr b="1"/>
              <a:t>KarmaGap</a:t>
            </a:r>
            <a:r>
              <a:rPr/>
              <a:t> para:</a:t>
            </a:r>
          </a:p>
          <a:p>
            <a:pPr lvl="0"/>
            <a:r>
              <a:rPr/>
              <a:t>Reporte de impacto</a:t>
            </a:r>
          </a:p>
          <a:p>
            <a:pPr lvl="0"/>
            <a:r>
              <a:rPr/>
              <a:t>Registros verificables de actividades regenerativas</a:t>
            </a:r>
          </a:p>
          <a:p>
            <a:pPr lvl="0"/>
            <a:r>
              <a:rPr/>
              <a:t>Crear un “currículum vivo” del proyecto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 que Aprenderemos Hoy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Configurar una Wallet Web3 en Celo</a:t>
            </a:r>
          </a:p>
          <a:p>
            <a:pPr lvl="0"/>
            <a:r>
              <a:rPr/>
              <a:t>Elegir entre Valora, Minipay u otras opciones</a:t>
            </a:r>
          </a:p>
          <a:p>
            <a:pPr lvl="0"/>
            <a:r>
              <a:rPr/>
              <a:t>Entender las diferencias y casos de uso</a:t>
            </a:r>
          </a:p>
          <a:p>
            <a:pPr lvl="0"/>
            <a:r>
              <a:rPr/>
              <a:t>Guía paso a paso de configuración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 que Aprenderemos Hoy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Seguridad y Recuperación Social</a:t>
            </a:r>
          </a:p>
          <a:p>
            <a:pPr lvl="0"/>
            <a:r>
              <a:rPr/>
              <a:t>Cómo configurar contactos de recuperación</a:t>
            </a:r>
          </a:p>
          <a:p>
            <a:pPr lvl="0"/>
            <a:r>
              <a:rPr/>
              <a:t>Mejores prácticas para gestión de claves</a:t>
            </a:r>
          </a:p>
          <a:p>
            <a:pPr lvl="0"/>
            <a:r>
              <a:rPr/>
              <a:t>Estrategias para gestión organizacional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 que Aprenderemos Hoy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Recibir y Gestionar Fondos</a:t>
            </a:r>
          </a:p>
          <a:p>
            <a:pPr lvl="0"/>
            <a:r>
              <a:rPr/>
              <a:t>Cómo recibir fondos de la wallet multisig</a:t>
            </a:r>
          </a:p>
          <a:p>
            <a:pPr lvl="0"/>
            <a:r>
              <a:rPr/>
              <a:t>Entender transacciones on-chain</a:t>
            </a:r>
          </a:p>
          <a:p>
            <a:pPr lvl="0"/>
            <a:r>
              <a:rPr/>
              <a:t>Convertir a moneda fiat cuando sea necesario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 que Aprenderemos Hoy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Conectar con Herramientas de Impacto</a:t>
            </a:r>
          </a:p>
          <a:p>
            <a:pPr lvl="0"/>
            <a:r>
              <a:rPr/>
              <a:t>Integración WalletConnect con KarmaGap</a:t>
            </a:r>
          </a:p>
          <a:p>
            <a:pPr lvl="0"/>
            <a:r>
              <a:rPr/>
              <a:t>Construir registros verificables de impacto</a:t>
            </a:r>
          </a:p>
          <a:p>
            <a:pPr lvl="0"/>
            <a:r>
              <a:rPr/>
              <a:t>Crear documentación transparente del proyecto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 que Aprenderemos Hoy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Mejores Prácticas Organizacionales</a:t>
            </a:r>
          </a:p>
          <a:p>
            <a:pPr lvl="0"/>
            <a:r>
              <a:rPr/>
              <a:t>Consideraciones multi-firma</a:t>
            </a:r>
          </a:p>
          <a:p>
            <a:pPr lvl="0"/>
            <a:r>
              <a:rPr/>
              <a:t>Acceso del equipo y seguridad</a:t>
            </a:r>
          </a:p>
          <a:p>
            <a:pPr lvl="0"/>
            <a:r>
              <a:rPr/>
              <a:t>Integración con sistemas financieros existentes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Opciones de Wallets Recomendadas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Valora</a:t>
            </a:r>
          </a:p>
          <a:p>
            <a:pPr lvl="0"/>
            <a:r>
              <a:rPr b="1"/>
              <a:t>Plataforma:</a:t>
            </a:r>
            <a:r>
              <a:rPr/>
              <a:t> Móvil (iOS/Android)</a:t>
            </a:r>
          </a:p>
          <a:p>
            <a:pPr lvl="0"/>
            <a:r>
              <a:rPr b="1"/>
              <a:t>Características:</a:t>
            </a:r>
            <a:r>
              <a:rPr/>
              <a:t> Recuperación social, fácil de usar</a:t>
            </a:r>
          </a:p>
          <a:p>
            <a:pPr lvl="0"/>
            <a:r>
              <a:rPr b="1"/>
              <a:t>Ideal para:</a:t>
            </a:r>
            <a:r>
              <a:rPr/>
              <a:t> Proyectos que necesitan acceso móvil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Minipay</a:t>
            </a:r>
          </a:p>
          <a:p>
            <a:pPr lvl="0"/>
            <a:r>
              <a:rPr b="1"/>
              <a:t>Plataforma:</a:t>
            </a:r>
            <a:r>
              <a:rPr/>
              <a:t> Integrado en Opera Browser</a:t>
            </a:r>
          </a:p>
          <a:p>
            <a:pPr lvl="0"/>
            <a:r>
              <a:rPr b="1"/>
              <a:t>Características:</a:t>
            </a:r>
            <a:r>
              <a:rPr/>
              <a:t> Acceso desde navegador</a:t>
            </a:r>
          </a:p>
          <a:p>
            <a:pPr lvl="0"/>
            <a:r>
              <a:rPr b="1"/>
              <a:t>Ideal para:</a:t>
            </a:r>
            <a:r>
              <a:rPr/>
              <a:t> Proyectos que trabajan principalmente en web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Enfoque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Construyendo Capacidad, No Solo Enseñando Tecnología</a:t>
            </a:r>
          </a:p>
          <a:p>
            <a:pPr lvl="0" indent="0" marL="0">
              <a:buNone/>
            </a:pPr>
            <a:r>
              <a:rPr/>
              <a:t>No solo enseñamos tecnología—estamos construyendo capacidad para financiación regenerativa continua.</a:t>
            </a:r>
          </a:p>
          <a:p>
            <a:pPr lvl="0" indent="0" marL="0">
              <a:buNone/>
            </a:pPr>
            <a:r>
              <a:rPr/>
              <a:t>Los proyectos usarán estas herramientas más allá de este programa, creando infraestructura para:</a:t>
            </a:r>
          </a:p>
          <a:p>
            <a:pPr lvl="0"/>
            <a:r>
              <a:rPr/>
              <a:t>Futuras rondas de financiación</a:t>
            </a:r>
          </a:p>
          <a:p>
            <a:pPr lvl="0"/>
            <a:r>
              <a:rPr/>
              <a:t>Documentación transparente de impacto</a:t>
            </a:r>
          </a:p>
          <a:p>
            <a:pPr lvl="0"/>
            <a:r>
              <a:rPr/>
              <a:t>Gobernanza colectiva a nivel de red (Fase 2)</a:t>
            </a:r>
          </a:p>
          <a:p>
            <a:pPr lvl="0"/>
            <a:r>
              <a:rPr/>
              <a:t>Regeneración bioregional continua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Formato del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Estructura (1.5 horas)</a:t>
            </a:r>
          </a:p>
          <a:p>
            <a:pPr lvl="0" indent="0" marL="0">
              <a:buNone/>
            </a:pPr>
            <a:r>
              <a:rPr b="1"/>
              <a:t>60 minutos:</a:t>
            </a:r>
            <a:r>
              <a:rPr/>
              <a:t> Presentación con pausas estratégicas para Q&amp;A</a:t>
            </a:r>
          </a:p>
          <a:p>
            <a:pPr lvl="0" indent="0" marL="0">
              <a:buNone/>
            </a:pPr>
            <a:r>
              <a:rPr b="1"/>
              <a:t>30 minutos:</a:t>
            </a:r>
            <a:r>
              <a:rPr/>
              <a:t> Grupos de trabajo para soporte en configuración de wallets - Divididos en 3 grupos de 3-4 proyectos cada uno - Asistencia personalizada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Formato del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Idioma y Soporte</a:t>
            </a:r>
          </a:p>
          <a:p>
            <a:pPr lvl="0"/>
            <a:r>
              <a:rPr b="1"/>
              <a:t>Idioma:</a:t>
            </a:r>
            <a:r>
              <a:rPr/>
              <a:t> Español (materiales disponibles en catalán)</a:t>
            </a:r>
          </a:p>
          <a:p>
            <a:pPr lvl="0"/>
            <a:r>
              <a:rPr b="1"/>
              <a:t>Soporte:</a:t>
            </a:r>
            <a:r>
              <a:rPr/>
              <a:t> Horas de oficina de seguimiento disponibles para proyectos que necesiten ayuda adicional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Entregable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Al finalizar este workshop, cada proyecto debe tener:</a:t>
            </a:r>
          </a:p>
          <a:p>
            <a:pPr lvl="0" indent="0" marL="0">
              <a:buNone/>
            </a:pPr>
            <a:r>
              <a:rPr/>
              <a:t>✅ Wallet Web3 abierta y configurada ✅ Contactos de recuperación social establecidos ✅ Wallet conectada y lista para recibir fondos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Grupos de Trabajo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Configuración de Wallets</a:t>
            </a:r>
          </a:p>
          <a:p>
            <a:pPr lvl="0" indent="0" marL="0">
              <a:buNone/>
            </a:pPr>
            <a:r>
              <a:rPr/>
              <a:t>Ahora nos dividiremos en </a:t>
            </a:r>
            <a:r>
              <a:rPr b="1"/>
              <a:t>3 grupos</a:t>
            </a:r>
            <a:r>
              <a:rPr/>
              <a:t> para:</a:t>
            </a:r>
          </a:p>
          <a:p>
            <a:pPr lvl="0" indent="-342900" marL="342900">
              <a:buAutoNum type="arabicPeriod"/>
            </a:pPr>
            <a:r>
              <a:rPr/>
              <a:t>Configuración paso a paso de wallets</a:t>
            </a:r>
          </a:p>
          <a:p>
            <a:pPr lvl="0" indent="-342900" marL="342900">
              <a:buAutoNum type="arabicPeriod"/>
            </a:pPr>
            <a:r>
              <a:rPr/>
              <a:t>Establecer recuperación social</a:t>
            </a:r>
          </a:p>
          <a:p>
            <a:pPr lvl="0" indent="-342900" marL="342900">
              <a:buAutoNum type="arabicPeriod"/>
            </a:pPr>
            <a:r>
              <a:rPr/>
              <a:t>Pruebas de recepción de fondos</a:t>
            </a:r>
          </a:p>
          <a:p>
            <a:pPr lvl="0" indent="-342900" marL="342900">
              <a:buAutoNum type="arabicPeriod"/>
            </a:pPr>
            <a:r>
              <a:rPr/>
              <a:t>Resolver dudas específicas</a:t>
            </a:r>
          </a:p>
          <a:p>
            <a:pPr lvl="0" indent="0" marL="0">
              <a:buNone/>
            </a:pPr>
            <a:r>
              <a:rPr b="1"/>
              <a:t>Cada grupo tendrá un facilitador</a:t>
            </a:r>
            <a:r>
              <a:rPr/>
              <a:t> para asistencia personalizada.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Después del Workshop 1</a:t>
            </a:r>
          </a:p>
          <a:p>
            <a:pPr lvl="0"/>
            <a:r>
              <a:rPr b="1"/>
              <a:t>Workshop 2 (Dic 8-14):</a:t>
            </a:r>
            <a:r>
              <a:rPr/>
              <a:t> Documentación de impacto con KarmaGap</a:t>
            </a:r>
          </a:p>
          <a:p>
            <a:pPr lvl="0"/>
            <a:r>
              <a:rPr b="1"/>
              <a:t>Horas de oficina:</a:t>
            </a:r>
            <a:r>
              <a:rPr/>
              <a:t> Soporte continuo disponible</a:t>
            </a:r>
          </a:p>
          <a:p>
            <a:pPr lvl="0"/>
            <a:r>
              <a:rPr b="1"/>
              <a:t>Desembolso Fase 1:</a:t>
            </a:r>
            <a:r>
              <a:rPr/>
              <a:t> Fin de diciembre</a:t>
            </a:r>
          </a:p>
          <a:p>
            <a:pPr lvl="0"/>
            <a:r>
              <a:rPr b="1"/>
              <a:t>Workshop 3:</a:t>
            </a:r>
            <a:r>
              <a:rPr/>
              <a:t> Métricas de impacto y medición regenerativa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Recursos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Documentación</a:t>
            </a:r>
          </a:p>
          <a:p>
            <a:pPr lvl="0"/>
            <a:r>
              <a:rPr b="1"/>
              <a:t>Guía del Proyecto:</a:t>
            </a:r>
            <a:r>
              <a:rPr/>
              <a:t> regenerant-catalunya.refibcn.cat/program/project-guidebook</a:t>
            </a:r>
          </a:p>
          <a:p>
            <a:pPr lvl="0"/>
            <a:r>
              <a:rPr b="1"/>
              <a:t>Herramientas:</a:t>
            </a:r>
            <a:r>
              <a:rPr/>
              <a:t> regenerant-catalunya.refibcn.cat/program/tools</a:t>
            </a:r>
          </a:p>
          <a:p>
            <a:pPr lvl="0"/>
            <a:r>
              <a:rPr b="1"/>
              <a:t>Recursos:</a:t>
            </a:r>
            <a:r>
              <a:rPr/>
              <a:t> regenerant-catalunya.refibcn.cat/resources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Contacto</a:t>
            </a:r>
          </a:p>
          <a:p>
            <a:pPr lvl="0" indent="0" marL="0">
              <a:buNone/>
            </a:pPr>
            <a:r>
              <a:rPr b="1"/>
              <a:t>Email:</a:t>
            </a:r>
            <a:r>
              <a:rPr/>
              <a:t> hola@refibcn.cat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Preguntas y Respuestas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¿Tienes preguntas?</a:t>
            </a:r>
          </a:p>
          <a:p>
            <a:pPr lvl="0" indent="0" marL="0">
              <a:buNone/>
            </a:pPr>
            <a:r>
              <a:rPr/>
              <a:t>Estamos aquí para ayudarte.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Gracias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¡Bienvenidos a Regenerant Catalunya!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Construyendo infraestructura para regeneración bioregional en Cataluña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ReFi Barcelona</a:t>
            </a:r>
          </a:p>
          <a:p>
            <a:pPr lvl="0"/>
            <a:r>
              <a:rPr b="1"/>
              <a:t>Email:</a:t>
            </a:r>
            <a:r>
              <a:rPr/>
              <a:t> hola@refibcn.cat</a:t>
            </a:r>
          </a:p>
          <a:p>
            <a:pPr lvl="0"/>
            <a:r>
              <a:rPr b="1"/>
              <a:t>Website:</a:t>
            </a:r>
            <a:r>
              <a:rPr/>
              <a:t> regenerant-catalunya.refibcn.cat</a:t>
            </a:r>
          </a:p>
          <a:p>
            <a:pPr lvl="0" indent="0" marL="0">
              <a:buNone/>
            </a:pPr>
            <a:r>
              <a:rPr b="1"/>
              <a:t>Síguenos para actualizaciones y recursos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1: Web3 Wallet Education</dc:title>
  <dc:creator>ReFi Barcelona</dc:creator>
  <cp:keywords/>
  <dcterms:created xsi:type="dcterms:W3CDTF">2025-11-17T11:56:21Z</dcterms:created>
  <dcterms:modified xsi:type="dcterms:W3CDTF">2025-11-17T11:56:21Z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November 2025</vt:lpwstr>
  </property>
  <property fmtid="{D5CDD505-2E9C-101B-9397-08002B2CF9AE}" pid="3" name="institute">
    <vt:lpwstr>Regenerant Catalunya</vt:lpwstr>
  </property>
  <property fmtid="{D5CDD505-2E9C-101B-9397-08002B2CF9AE}" pid="4" name="subtitle">
    <vt:lpwstr>Regenerant Catalunya - Phase 1</vt:lpwstr>
  </property>
</Properties>
</file>